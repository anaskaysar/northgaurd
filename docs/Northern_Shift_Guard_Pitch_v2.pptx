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2E364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EE6C2B"/>
          </a:solidFill>
          <a:ln/>
        </p:spPr>
      </p:sp>
      <p:pic>
        <p:nvPicPr>
          <p:cNvPr id="4" name="Image 0" descr="/home/claude/icons/hardha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108927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&amp; INDUSTRIAL INNOVATION  ·  CURSOR HACKATHON SUDBURY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4672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Northern Shift Guard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shift-start safety screening for Northern Ontario mines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0" cy="0"/>
          </a:xfrm>
          <a:prstGeom prst="line">
            <a:avLst/>
          </a:prstGeom>
          <a:noFill/>
          <a:ln w="12700">
            <a:solidFill>
              <a:srgbClr val="2E36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760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Team: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NorthMind    </a:t>
            </a:r>
            <a:pPr indent="0" marL="0">
              <a:buNone/>
            </a:pPr>
            <a:r>
              <a:rPr lang="en-US" sz="1300" b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Built with: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React · GPT-4o Vision · Nemotron · TiDB · Zone Compliance Engine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forces are colliding underground in Northern Ontario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685800" cy="68580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6" name="Image 0" descr="/home/claude/icons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145" y="23031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0175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Workforce gap widening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61188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Ontario's remote mine sites can't backfill retiring trades fast enough — experienced electricians, ground-control and ventilation workers are leaving faster than they're replaced.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48840"/>
            <a:ext cx="685800" cy="68580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1" name="Image 1" descr="/home/claude/icons/tool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265" y="230314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30175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 is outpacing process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37960" y="361188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Ontario's own mining safety review found that new technology adoption itself introduces hazards when it isn't paired with proper change-management and training.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507492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1C2128"/>
          </a:solidFill>
          <a:ln/>
        </p:spPr>
      </p:sp>
      <p:sp>
        <p:nvSpPr>
          <p:cNvPr id="15" name="Text 11"/>
          <p:cNvSpPr/>
          <p:nvPr/>
        </p:nvSpPr>
        <p:spPr>
          <a:xfrm>
            <a:off x="1005840" y="52120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E6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result: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less-experienced crews, faster tech adoption, and no fast, auditable way to catch a missing hard hat or a fatigued operator before they're on the floor.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Gap, Why Now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37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195,000m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drilling planned by Vale in Sudbury in 2026 alone — operations are scaling fast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737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$112B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75488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contribution from Canadian mining in 2024 — workforce risk is a macro problem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3210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95360" y="1737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59536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standardized, auditable shift-start PPE &amp; fatigue screening tools in most underground sites today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11201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mining-track team is likely pitching sensors or dashboards. We're building for the screening + reasoning gap — fast, explainable, auditable decisions at shift start.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Cost of Getting This Wrong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injuries in Ontario mining have been rising for five straight years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injuries / yr — Ontario mining program (province-wide)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3254188"/>
            <a:ext cx="883920" cy="677732"/>
          </a:xfrm>
          <a:prstGeom prst="rect">
            <a:avLst/>
          </a:prstGeom>
          <a:solidFill>
            <a:srgbClr val="2E36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61580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9593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06880" y="3329492"/>
            <a:ext cx="883920" cy="602428"/>
          </a:xfrm>
          <a:prstGeom prst="rect">
            <a:avLst/>
          </a:prstGeom>
          <a:solidFill>
            <a:srgbClr val="2E3640"/>
          </a:solidFill>
          <a:ln/>
        </p:spPr>
      </p:sp>
      <p:sp>
        <p:nvSpPr>
          <p:cNvPr id="9" name="Text 7"/>
          <p:cNvSpPr/>
          <p:nvPr/>
        </p:nvSpPr>
        <p:spPr>
          <a:xfrm>
            <a:off x="1706880" y="3036884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06880" y="39593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73680" y="2670586"/>
            <a:ext cx="883920" cy="1261334"/>
          </a:xfrm>
          <a:prstGeom prst="rect">
            <a:avLst/>
          </a:prstGeom>
          <a:solidFill>
            <a:srgbClr val="2E3640"/>
          </a:solidFill>
          <a:ln/>
        </p:spPr>
      </p:sp>
      <p:sp>
        <p:nvSpPr>
          <p:cNvPr id="12" name="Text 10"/>
          <p:cNvSpPr/>
          <p:nvPr/>
        </p:nvSpPr>
        <p:spPr>
          <a:xfrm>
            <a:off x="2773680" y="2377978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73680" y="39593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0" y="2407024"/>
            <a:ext cx="883920" cy="1524896"/>
          </a:xfrm>
          <a:prstGeom prst="rect">
            <a:avLst/>
          </a:prstGeom>
          <a:solidFill>
            <a:srgbClr val="2E364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114416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9593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07280" y="2538805"/>
            <a:ext cx="883920" cy="1393115"/>
          </a:xfrm>
          <a:prstGeom prst="rect">
            <a:avLst/>
          </a:prstGeom>
          <a:solidFill>
            <a:srgbClr val="2E3640"/>
          </a:solidFill>
          <a:ln/>
        </p:spPr>
      </p:sp>
      <p:sp>
        <p:nvSpPr>
          <p:cNvPr id="18" name="Text 16"/>
          <p:cNvSpPr/>
          <p:nvPr/>
        </p:nvSpPr>
        <p:spPr>
          <a:xfrm>
            <a:off x="4907280" y="2246197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07280" y="39593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74080" y="2011680"/>
            <a:ext cx="883920" cy="1920240"/>
          </a:xfrm>
          <a:prstGeom prst="rect">
            <a:avLst/>
          </a:prstGeom>
          <a:solidFill>
            <a:srgbClr val="EE6C2B"/>
          </a:solidFill>
          <a:ln/>
        </p:spPr>
      </p:sp>
      <p:sp>
        <p:nvSpPr>
          <p:cNvPr id="21" name="Text 19"/>
          <p:cNvSpPr/>
          <p:nvPr/>
        </p:nvSpPr>
        <p:spPr>
          <a:xfrm>
            <a:off x="5974080" y="171907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6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74080" y="3959352"/>
            <a:ext cx="88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Ontario Ministry of Labour, Immigration, Training and Skills Development — Mining program sector trends (ontario.ca)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23760" y="16916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2E364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 deaths · 300+ critical injuries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2286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Ontario's mining sector over one recent decade — concentrated in the Sudbury basin where most underground operations sit.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23760" y="324612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2E3640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Fatigue named a priority hazard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0" y="3840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Ontario's own Mining Health, Safety and Prevention Review flagged worker fatigue as requiring formal management plans — struck-by and visibility risks led to mandated high-vis apparel rules.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23760" y="48006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EE6C2B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48920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a fatal struck-by-material incident at Rainy River Mine, Northwestern Ontario — operations voluntarily suspended pending investigation.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572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dataset isolates accidents by root cause for Northern Ontario alone — we cite the closest verifiable proxies: province-wide official trends and named hazard categories.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shift-start photo check that detects risk, reasons about priority, and never hides its logic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2E3640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240280"/>
            <a:ext cx="822960" cy="8229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6" name="Image 0" descr="/home/claude/icons/camera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786" y="242544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Capture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73075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snap a shift-start photo of a worker on site.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0" y="3154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6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502152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2E3640"/>
          </a:solidFill>
          <a:ln/>
        </p:spPr>
      </p:sp>
      <p:sp>
        <p:nvSpPr>
          <p:cNvPr id="11" name="Shape 8"/>
          <p:cNvSpPr/>
          <p:nvPr/>
        </p:nvSpPr>
        <p:spPr>
          <a:xfrm>
            <a:off x="4393692" y="2240280"/>
            <a:ext cx="822960" cy="8229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2" name="Image 1" descr="/home/claude/icons/eye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858" y="242544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Detect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30752" y="373075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vision checks PPE compliance and visible fatigue cues against zone requirements.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062472" y="3154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6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364224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2E3640"/>
          </a:solidFill>
          <a:ln/>
        </p:spPr>
      </p:sp>
      <p:sp>
        <p:nvSpPr>
          <p:cNvPr id="17" name="Shape 13"/>
          <p:cNvSpPr/>
          <p:nvPr/>
        </p:nvSpPr>
        <p:spPr>
          <a:xfrm>
            <a:off x="7255764" y="2240280"/>
            <a:ext cx="822960" cy="8229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8" name="Image 2" descr="/home/claude/icons/brai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930" y="2425446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47104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Reason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92824" y="373075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weighs evidence against safety context, ranks what matters most.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924544" y="31546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6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226296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2E3640"/>
          </a:solidFill>
          <a:ln/>
        </p:spPr>
      </p:sp>
      <p:sp>
        <p:nvSpPr>
          <p:cNvPr id="23" name="Shape 18"/>
          <p:cNvSpPr/>
          <p:nvPr/>
        </p:nvSpPr>
        <p:spPr>
          <a:xfrm>
            <a:off x="10117836" y="2240280"/>
            <a:ext cx="822960" cy="8229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4" name="Image 3" descr="/home/claude/icons/databas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002" y="2425446"/>
            <a:ext cx="452628" cy="4526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09176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 Record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454896" y="373075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and decision is logged to TiDB — fully auditable.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reasoning layers, not one black box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554480" cy="1371600"/>
          </a:xfrm>
          <a:prstGeom prst="roundRect">
            <a:avLst>
              <a:gd name="adj" fmla="val 4667"/>
            </a:avLst>
          </a:prstGeom>
          <a:solidFill>
            <a:srgbClr val="2E364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134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webcam frame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94560" y="160020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2128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06040" y="1600200"/>
            <a:ext cx="2377440" cy="1371600"/>
          </a:xfrm>
          <a:prstGeom prst="roundRect">
            <a:avLst>
              <a:gd name="adj" fmla="val 4667"/>
            </a:avLst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GPT-4o Vision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97480" y="23134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→ JSON evidence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212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394960" y="1600200"/>
            <a:ext cx="2377440" cy="1371600"/>
          </a:xfrm>
          <a:prstGeom prst="roundRect">
            <a:avLst>
              <a:gd name="adj" fmla="val 4667"/>
            </a:avLst>
          </a:prstGeom>
          <a:solidFill>
            <a:srgbClr val="EE6C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Nemotron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23134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3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zone compliance check + safety context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0" y="160020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2128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83880" y="1600200"/>
            <a:ext cx="1828800" cy="1371600"/>
          </a:xfrm>
          <a:prstGeom prst="roundRect">
            <a:avLst>
              <a:gd name="adj" fmla="val 4667"/>
            </a:avLst>
          </a:prstGeom>
          <a:solidFill>
            <a:srgbClr val="2E364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7532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TiDB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3134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record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supervisor sees in the UI: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160520"/>
            <a:ext cx="594360" cy="5943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2" name="Image 0" descr="/home/claude/icons/shield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4294251"/>
            <a:ext cx="326898" cy="32689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45920" y="4178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Evidence Cards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14400" y="48920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"Hard hat: not detected." Plain visual evidence, not a hidden score.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48056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4160520"/>
            <a:ext cx="594360" cy="5943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7" name="Image 1" descr="/home/claude/icons/robot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611" y="4294251"/>
            <a:ext cx="326898" cy="32689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86400" y="4178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Prioritized Action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4754880" y="48920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Nemotron: "Stop-work — missing hard hat is the immediate issue; fatigue is secondary, monitor only."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321040" y="38862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595360" y="4160520"/>
            <a:ext cx="594360" cy="5943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2" name="Image 2" descr="/home/claude/icons/clipboard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091" y="4294251"/>
            <a:ext cx="326898" cy="32689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326880" y="4178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8595360" y="48920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scan, evidence set, and action stored in TiDB — fully traceable later.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Demo Walkthrough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shift-start scans, three different outcomes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Compliant Worker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hat ✓  Hi-vis vest ✓  Fatigue: low risk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251960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F5F6F7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89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 — clear to start shift.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0574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Missing PPE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3246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hat ✗  Hi-vis vest ✓  Fatigue: low risk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4251960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F5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4389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Nemotron: "Stop-work — missing hard hat is the immediate issue."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32104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0" y="20574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EE6C2B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Fatigue Signal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95360" y="3246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hat ✓  Hi-vis vest ✓  Fatigue: medium risk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95360" y="4251960"/>
            <a:ext cx="2971800" cy="1463040"/>
          </a:xfrm>
          <a:prstGeom prst="roundRect">
            <a:avLst>
              <a:gd name="adj" fmla="val 3750"/>
            </a:avLst>
          </a:prstGeom>
          <a:solidFill>
            <a:srgbClr val="F5F6F7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0" y="4389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Nemotron: "Screening aid only — monitor, don't escalate alone."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to Be Explainable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PPE detectors stop at a label. We show what was seen, why it matters, and what to 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2E36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D3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Typical PPE Detector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"No helmet detected" — a label, no 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reasoning about severity or priority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record of why a decision was made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EE6C2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Northern Shift Guard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Visual evidence: exactly what was seen, where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429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Nemotron reasons against safety context — ranks what matters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scan + decision logged in TiDB — fully auditable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Explainability, Layered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pipeline produces its own evidence — nothing relies on a single opaque score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47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Vision evidence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620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detection: “no hard hat visible on head region.”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4767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47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Nemotron 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8620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stop-work vs. monitor guidance, reasoned against safety context.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0507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050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TiDB audit trail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919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scan's evidence + action + timestamp, fully traceable later.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0507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E6C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050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YOLO bounding boxes + Grad-CAM++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919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overlays on flagged regions if time allows — same approach as our team's prior medical-imaging XAI work.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62356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C2128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73328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E6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us: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evidence-first, layered explainability approach extends our team's prior work in explainable medical-imaging AI to industrial safety.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What's Actually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progress snapshot, not a roadmap of intentions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60704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scaffold (backend / frontend / notebook)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69680" y="1856232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0" y="1856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10607040" cy="493776"/>
          </a:xfrm>
          <a:prstGeom prst="rect">
            <a:avLst/>
          </a:prstGeom>
          <a:solidFill>
            <a:srgbClr val="ECEEF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50008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reference data (OSHA, Ontario Reg 854)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0" y="2423160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0" y="2423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1060704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16936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notebook &amp; exported config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0" y="2990088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29900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10607040" cy="493776"/>
          </a:xfrm>
          <a:prstGeom prst="rect">
            <a:avLst/>
          </a:prstGeom>
          <a:solidFill>
            <a:srgbClr val="ECEEF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83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— /analyze, /scans, vision + Nemotron + TiDB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69680" y="3557016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2E7D5B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0" y="35570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50792"/>
            <a:ext cx="1060704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5079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 wiring &amp; polish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69680" y="4123944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EE6C2B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0" y="41239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607040" cy="493776"/>
          </a:xfrm>
          <a:prstGeom prst="rect">
            <a:avLst/>
          </a:prstGeom>
          <a:solidFill>
            <a:srgbClr val="ECEEF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61772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sample images (pass / fail / fatigue)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69680" y="4690872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EE6C2B"/>
          </a:solidFill>
          <a:ln/>
        </p:spPr>
      </p:sp>
      <p:sp>
        <p:nvSpPr>
          <p:cNvPr id="27" name="Text 25"/>
          <p:cNvSpPr/>
          <p:nvPr/>
        </p:nvSpPr>
        <p:spPr>
          <a:xfrm>
            <a:off x="8869680" y="46908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184648"/>
            <a:ext cx="1060704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184648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869680" y="5257800"/>
            <a:ext cx="1737360" cy="347472"/>
          </a:xfrm>
          <a:prstGeom prst="roundRect">
            <a:avLst>
              <a:gd name="adj" fmla="val 39474"/>
            </a:avLst>
          </a:prstGeom>
          <a:solidFill>
            <a:srgbClr val="8A93A0"/>
          </a:solidFill>
          <a:ln/>
        </p:spPr>
      </p:sp>
      <p:sp>
        <p:nvSpPr>
          <p:cNvPr id="31" name="Text 29"/>
          <p:cNvSpPr/>
          <p:nvPr/>
        </p:nvSpPr>
        <p:spPr>
          <a:xfrm>
            <a:off x="8869680" y="5257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demo ready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Metrics That Prove the Need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is real, not assumed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594360" cy="5943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6" name="Image 0" descr="/home/claude/icons/char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081403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Critical injury trend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critical injuries in Ontario's mining program in 2024–25, up from 36 five years prior — official MLITSD data.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Collected: cited from ontario.ca published sector trends (public record).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2" name="Image 1" descr="/home/claude/icons/us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971" y="2081403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Workforce attrition rate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92240" y="2606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Ontario mine sites can't backfill retiring trades fast enough; remote-site recruitment is a named, persistent barrier.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9224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Collected: industry workforce reports + direct input from mentors/judges with mine-ops experience.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" y="37947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050792"/>
            <a:ext cx="594360" cy="5943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8" name="Image 2" descr="/home/claude/icons/warning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31" y="4184523"/>
            <a:ext cx="326898" cy="326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Named hazard categories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14400" y="4709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and struck-by/visibility risk are both officially flagged priority hazards in Ontario mining safety reviews.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91440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Collected: cited from Ontario's Mining Health, Safety and Prevention Review (public record).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217920" y="37947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050792"/>
            <a:ext cx="594360" cy="59436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4" name="Image 3" descr="/home/claude/icons/tools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971" y="4184523"/>
            <a:ext cx="326898" cy="32689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2376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Manual check time &amp; frequency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492240" y="4709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 manual shift-start PPE check takes today, and how often checks are skipped under time pressure.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9224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Collected: short structured interview with a mine-ops professional (available on the judging panel).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Metrics That Prove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live, on our own demo pipeline — not claimed, shown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2E3640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1828800"/>
            <a:ext cx="685800" cy="68580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6" name="Image 0" descr="/home/claude/icons/eye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7405" y="19831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Detection accuracy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on hard hat &amp; hi-vis detection, hand-labeled against our sample image set.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Tier-1 vision model on sample_images/, compare to ground truth we label ourselves.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60520" y="160020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2E3640"/>
          </a:solidFill>
          <a:ln/>
        </p:spPr>
      </p:sp>
      <p:sp>
        <p:nvSpPr>
          <p:cNvPr id="11" name="Shape 8"/>
          <p:cNvSpPr/>
          <p:nvPr/>
        </p:nvSpPr>
        <p:spPr>
          <a:xfrm>
            <a:off x="5463540" y="1828800"/>
            <a:ext cx="685800" cy="68580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2" name="Image 1" descr="/home/claude/icons/robot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845" y="198310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End-to-end latency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389120" y="31089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image upload to Nemotron action returned — does this work shift-side, in practice.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38912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logged in /api/analyze before and after each call.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680960" y="160020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2E3640"/>
          </a:solidFill>
          <a:ln/>
        </p:spPr>
      </p:sp>
      <p:sp>
        <p:nvSpPr>
          <p:cNvPr id="17" name="Shape 13"/>
          <p:cNvSpPr/>
          <p:nvPr/>
        </p:nvSpPr>
        <p:spPr>
          <a:xfrm>
            <a:off x="8983980" y="1828800"/>
            <a:ext cx="685800" cy="68580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8" name="Image 2" descr="/home/claude/icons/brai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285" y="198310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0956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Action agreement rate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909560" y="31089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Nemotron's recommended action matches what a reasonable supervisor would decide.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90956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Nemotron's output to our own judgment on each demo case.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40080" y="5349240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2E3640"/>
          </a:solidFill>
          <a:ln/>
        </p:spPr>
      </p:sp>
      <p:sp>
        <p:nvSpPr>
          <p:cNvPr id="23" name="Shape 18"/>
          <p:cNvSpPr/>
          <p:nvPr/>
        </p:nvSpPr>
        <p:spPr>
          <a:xfrm>
            <a:off x="868680" y="5532120"/>
            <a:ext cx="731520" cy="73152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4" name="Image 3" descr="/home/claude/icons/databas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69671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37360" y="54589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Audit completeness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737360" y="58247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scans with evidence + action + timestamp fully recorded — direct proof of “not a black box.”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035040" y="5349240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2E3640"/>
          </a:solidFill>
          <a:ln/>
        </p:spPr>
      </p:sp>
      <p:sp>
        <p:nvSpPr>
          <p:cNvPr id="28" name="Shape 22"/>
          <p:cNvSpPr/>
          <p:nvPr/>
        </p:nvSpPr>
        <p:spPr>
          <a:xfrm>
            <a:off x="6263640" y="5532120"/>
            <a:ext cx="731520" cy="73152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9" name="Image 4" descr="/home/claude/icons/clipboard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5696712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32320" y="54589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False-negative rate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132320" y="58247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system ever pass a worker who is clearly missing required PPE — the question safety judges ask first.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Tools &amp;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during the hackathon with the event's own toolkit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6" name="Image 0" descr="/home/claude/icons/tools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22014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Cursor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2644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frontend &amp; pipeline code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6616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0" y="2057400"/>
            <a:ext cx="640080" cy="64008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1" name="Image 1" descr="/home/claude/icons/eye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498" y="220141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2834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GPT-4o Vision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40480" y="32644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Zone-aware PPE &amp; fatigue detection via vision API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9224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66560" y="2057400"/>
            <a:ext cx="640080" cy="64008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6" name="Image 2" descr="/home/claude/icons/brai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578" y="220141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2834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Nemotron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766560" y="32644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layer — evidence → action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41832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92640" y="2057400"/>
            <a:ext cx="640080" cy="64008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1" name="Image 3" descr="/home/claude/icons/databas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6658" y="220141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0" y="2834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TiDB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692640" y="326440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auditable scan history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34340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4617720"/>
            <a:ext cx="640080" cy="64008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26" name="Image 4" descr="/home/claude/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418" y="476173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5394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Lovable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14400" y="58247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dashboard UI prototyping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566160" y="434340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840480" y="4617720"/>
            <a:ext cx="640080" cy="64008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1" name="Image 5" descr="/home/claude/icons/clipboard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4498" y="4761738"/>
            <a:ext cx="352044" cy="3520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840480" y="5394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Apify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3840480" y="58247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safety reference context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92240" y="434340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766560" y="4617720"/>
            <a:ext cx="640080" cy="64008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36" name="Image 6" descr="/home/claude/icons/cogs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0578" y="4761738"/>
            <a:ext cx="352044" cy="3520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766560" y="5394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Valsea API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6766560" y="58247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voice readout of actions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Impact &amp; Scalability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914400" cy="914400"/>
          </a:xfrm>
          <a:prstGeom prst="ellipse">
            <a:avLst/>
          </a:prstGeom>
          <a:solidFill>
            <a:srgbClr val="2E3640"/>
          </a:solidFill>
          <a:ln/>
        </p:spPr>
      </p:sp>
      <p:pic>
        <p:nvPicPr>
          <p:cNvPr id="4" name="Image 0" descr="/home/claude/icons/shield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15727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for Northern Ontario, scalable anywhere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783080" y="20574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commodity, any site — surface yards, mills, processing plants. No site-specific hardware required.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914400" cy="914400"/>
          </a:xfrm>
          <a:prstGeom prst="ellipse">
            <a:avLst/>
          </a:prstGeom>
          <a:solidFill>
            <a:srgbClr val="2E3640"/>
          </a:solidFill>
          <a:ln/>
        </p:spPr>
      </p:sp>
      <p:pic>
        <p:nvPicPr>
          <p:cNvPr id="8" name="Image 1" descr="/home/claude/icons/char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32689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30815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Addresses two board-level problems at once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783080" y="35661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workforce gap and the management-of-change safety risk, both flagged in current government and provincial reviews.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4572000"/>
            <a:ext cx="914400" cy="914400"/>
          </a:xfrm>
          <a:prstGeom prst="ellipse">
            <a:avLst/>
          </a:prstGeom>
          <a:solidFill>
            <a:srgbClr val="2E3640"/>
          </a:solidFill>
          <a:ln/>
        </p:spPr>
      </p:sp>
      <p:pic>
        <p:nvPicPr>
          <p:cNvPr id="12" name="Image 2" descr="/home/claude/icons/robot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47777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459028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reasoning layer, not just detection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783080" y="50749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Nemotron's prioritized actions are the differentiator most hackathon PPE tools won't have.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design means naming the gaps, not just the wins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Known limitations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6" name="Image 0" descr="/home/claude/icons/warning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" y="22162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06654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aid, not a medical diagnosis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325880" y="239572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detection is a single-frame visual cue, not a clinical assessment — framed as a monitor signal, never an autonomous stop-work trigger on its own.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0" name="Image 1" descr="/home/claude/icons/eye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" y="317639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0266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accuracy depends on image quality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325880" y="3355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lighting, camera angle, or occlusion can affect detection — Tier-1 uses zero-shot vision-LLM, not a mine-specific trained model.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4" name="Image 2" descr="/home/claude/icons/databas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413651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9867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personal data collected yet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1325880" y="431596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uses sample images only; a real deployment needs a clear data-retention and consent policy for worker images.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1C2128"/>
          </a:solidFill>
          <a:ln/>
        </p:spPr>
      </p:sp>
      <p:pic>
        <p:nvPicPr>
          <p:cNvPr id="18" name="Image 3" descr="/home/claude/icons/tools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" y="509663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9469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fit not yet validated on-site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325880" y="527608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in a hackathon window — not yet piloted against real shift-change workflows or unionized workplace processes.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 steps if we keep building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EE6C2B"/>
          </a:solidFill>
          <a:ln/>
        </p:spPr>
      </p:sp>
      <p:sp>
        <p:nvSpPr>
          <p:cNvPr id="23" name="Text 17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40880" y="206654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real (consented) shift-start photos at a partner site, measure detection accuracy against supervisor judgment.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00800" y="3063240"/>
            <a:ext cx="457200" cy="457200"/>
          </a:xfrm>
          <a:prstGeom prst="ellipse">
            <a:avLst/>
          </a:prstGeom>
          <a:solidFill>
            <a:srgbClr val="EE6C2B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040880" y="302666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YOLO + Grad-CAM++ visual overlays for stronger spatial explainability, per our tiered XAI roadmap.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rgbClr val="EE6C2B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040880" y="398678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formal data-retention, consent, and worker-privacy policy before any non-demo deployment.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400800" y="4983480"/>
            <a:ext cx="457200" cy="457200"/>
          </a:xfrm>
          <a:prstGeom prst="ellipse">
            <a:avLst/>
          </a:prstGeom>
          <a:solidFill>
            <a:srgbClr val="EE6C2B"/>
          </a:solidFill>
          <a:ln/>
        </p:spPr>
      </p:sp>
      <p:sp>
        <p:nvSpPr>
          <p:cNvPr id="32" name="Text 26"/>
          <p:cNvSpPr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1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040880" y="494690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2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a Joint Health &amp; Safety Committee to validate fit with existing mine shift-change procedures.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E364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EE6C2B"/>
          </a:solidFill>
          <a:ln/>
        </p:spPr>
      </p:sp>
      <p:pic>
        <p:nvPicPr>
          <p:cNvPr id="4" name="Image 0" descr="/home/claude/icons/hardha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99783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Explainable by design.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2606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shows what was seen, why it matters, and what to do — never a black box.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3566160"/>
            <a:ext cx="10515600" cy="1920240"/>
          </a:xfrm>
          <a:prstGeom prst="roundRect">
            <a:avLst>
              <a:gd name="adj" fmla="val 3810"/>
            </a:avLst>
          </a:prstGeom>
          <a:solidFill>
            <a:srgbClr val="2E3640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6C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Northern Shift Guard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88720" y="434340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Track: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&amp; Industrial Innovation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Special prizes targeted: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of Nemotron · Best Use of TiDB · Best AI UI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5852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SHIFT GUARD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Northern Shift Guard</dc:title>
  <dc:subject>PptxGenJS Presentation</dc:subject>
  <dc:creator>Team Northern Shift Guard</dc:creator>
  <cp:lastModifiedBy>Team Northern Shift Guard</cp:lastModifiedBy>
  <cp:revision>1</cp:revision>
  <dcterms:created xsi:type="dcterms:W3CDTF">2026-06-27T19:08:02Z</dcterms:created>
  <dcterms:modified xsi:type="dcterms:W3CDTF">2026-06-27T19:08:02Z</dcterms:modified>
</cp:coreProperties>
</file>